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4" r:id="rId6"/>
    <p:sldId id="259" r:id="rId7"/>
    <p:sldId id="260" r:id="rId8"/>
    <p:sldId id="261" r:id="rId9"/>
    <p:sldId id="262" r:id="rId10"/>
    <p:sldId id="263" r:id="rId11"/>
    <p:sldId id="266" r:id="rId12"/>
  </p:sldIdLst>
  <p:sldSz cx="18288000" cy="10287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Unna Bold" panose="020B0604020202020204" charset="0"/>
      <p:regular r:id="rId15"/>
    </p:embeddedFont>
    <p:embeddedFont>
      <p:font typeface="Unna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2604"/>
    <a:srgbClr val="7E3F00"/>
    <a:srgbClr val="996633"/>
    <a:srgbClr val="FE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9A04E-E030-44F2-8C68-C157DFF2DBF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03AD9-DE9C-44A1-B1FF-4A71CAFF0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3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03AD9-DE9C-44A1-B1FF-4A71CAFF08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71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67521" y="-179637"/>
            <a:ext cx="12387037" cy="16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2800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SHADAN WOMEN’S COLLEGE OF ENGINEERING AND TECHNOLOGY</a:t>
            </a:r>
          </a:p>
        </p:txBody>
      </p:sp>
      <p:sp>
        <p:nvSpPr>
          <p:cNvPr id="3" name="Freeform 3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3907921" y="2159261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496685" y="-2247900"/>
            <a:ext cx="1543050" cy="15297724"/>
            <a:chOff x="0" y="0"/>
            <a:chExt cx="406400" cy="40290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633442" y="2374429"/>
            <a:ext cx="14406293" cy="1221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57"/>
              </a:lnSpc>
            </a:pPr>
            <a:r>
              <a:rPr lang="en-US" sz="3200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TOPIC : THEORY OF INFERENCE FOR THE STATEMENT CALCULUS</a:t>
            </a:r>
            <a:endParaRPr lang="en-US" sz="3200" b="1" dirty="0">
              <a:solidFill>
                <a:srgbClr val="6E4823"/>
              </a:solidFill>
              <a:latin typeface="Times New Roman" panose="02020603050405020304" pitchFamily="18" charset="0"/>
              <a:ea typeface="Unna"/>
              <a:cs typeface="Times New Roman" panose="02020603050405020304" pitchFamily="18" charset="0"/>
              <a:sym typeface="Unna"/>
            </a:endParaRPr>
          </a:p>
        </p:txBody>
      </p:sp>
      <p:sp>
        <p:nvSpPr>
          <p:cNvPr id="16" name="Freeform 16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Rectangle 20"/>
          <p:cNvSpPr/>
          <p:nvPr/>
        </p:nvSpPr>
        <p:spPr>
          <a:xfrm>
            <a:off x="4165177" y="223858"/>
            <a:ext cx="9904955" cy="2221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2000" b="1" dirty="0" smtClean="0">
                <a:solidFill>
                  <a:srgbClr val="7E3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</a:t>
            </a:r>
            <a:r>
              <a:rPr lang="en-US" sz="2000" b="1" dirty="0">
                <a:solidFill>
                  <a:srgbClr val="7E3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UCG AUTONOMOUS INSTITUTION AFFILIATED TO JNTUH , HYDERABAD)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798" y="1259071"/>
            <a:ext cx="1110234" cy="900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2209800" y="4309832"/>
            <a:ext cx="153162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endParaRPr lang="en-US" sz="32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 FOKAIHA AREEB</a:t>
            </a:r>
          </a:p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:  BTECH-II YEAR-II SEMESTER</a:t>
            </a:r>
          </a:p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: COMPUTER SCIENCE DEPARTMENT</a:t>
            </a:r>
          </a:p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SECTION: A</a:t>
            </a:r>
          </a:p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TICKET NUMBER : 24L51A0541</a:t>
            </a:r>
          </a:p>
          <a:p>
            <a:r>
              <a:rPr lang="en-US" sz="32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: DISCRETE MATHEMATICS ( DM )</a:t>
            </a: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2761" y="582165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INTRODUCTION</a:t>
            </a:r>
            <a:endParaRPr lang="en-US" sz="8192" b="1" dirty="0">
              <a:solidFill>
                <a:srgbClr val="6E4823"/>
              </a:solidFill>
              <a:latin typeface="Times New Roman" panose="02020603050405020304" pitchFamily="18" charset="0"/>
              <a:ea typeface="Unna Bold"/>
              <a:cs typeface="Times New Roman" panose="02020603050405020304" pitchFamily="18" charset="0"/>
              <a:sym typeface="Unn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24251" y="2342112"/>
            <a:ext cx="13294939" cy="4962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Calculus is a branch of Discrete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Mathematics.</a:t>
            </a:r>
          </a:p>
          <a:p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analyzing whether a statement is true or false using logical reasoning. </a:t>
            </a:r>
            <a:endParaRPr 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important concept in statement calculus is the Theory of Inference. </a:t>
            </a:r>
            <a:endParaRPr 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derive conclusions from given statements (premises). </a:t>
            </a:r>
            <a:endParaRPr 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forms the basis for logical thinking and problem solving.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096"/>
              </a:lnSpc>
            </a:pPr>
            <a:endParaRPr lang="en-US" sz="3640" dirty="0">
              <a:solidFill>
                <a:srgbClr val="6E4823"/>
              </a:solidFill>
              <a:latin typeface="Unna"/>
              <a:ea typeface="Unna"/>
              <a:cs typeface="Unna"/>
              <a:sym typeface="Unna"/>
            </a:endParaRPr>
          </a:p>
        </p:txBody>
      </p:sp>
      <p:sp>
        <p:nvSpPr>
          <p:cNvPr id="4" name="Freeform 4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3785183" y="1866900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5791469" y="-2324100"/>
            <a:ext cx="1543050" cy="15297724"/>
            <a:chOff x="0" y="0"/>
            <a:chExt cx="406400" cy="40290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81202" y="-3086100"/>
            <a:ext cx="1543050" cy="15297724"/>
            <a:chOff x="0" y="0"/>
            <a:chExt cx="406400" cy="4029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0958" y="470109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DEFINITION</a:t>
            </a:r>
            <a:endParaRPr lang="en-US" sz="8192" b="1" dirty="0">
              <a:solidFill>
                <a:srgbClr val="6E4823"/>
              </a:solidFill>
              <a:latin typeface="Times New Roman" panose="02020603050405020304" pitchFamily="18" charset="0"/>
              <a:ea typeface="Unna Bold"/>
              <a:cs typeface="Times New Roman" panose="02020603050405020304" pitchFamily="18" charset="0"/>
              <a:sym typeface="Unn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496530" y="3060589"/>
            <a:ext cx="13108186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derive valid conclusions from given statements called premises.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conclusions are obtained using specific rules of inference.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determining whether an argument is logically valid or not. </a:t>
            </a:r>
            <a:endParaRPr lang="en-US" alt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General </a:t>
            </a:r>
            <a:r>
              <a:rPr 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Premise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Premise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… </a:t>
            </a: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Apply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of Inference </a:t>
            </a: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👉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667000" y="2240076"/>
            <a:ext cx="11156451" cy="61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2966" lvl="1" algn="l">
              <a:lnSpc>
                <a:spcPts val="5096"/>
              </a:lnSpc>
            </a:pPr>
            <a:r>
              <a:rPr lang="en-US" sz="364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Theory of inference for statement calculus</a:t>
            </a:r>
            <a:r>
              <a:rPr lang="en-US" sz="3640" dirty="0" smtClean="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:</a:t>
            </a:r>
            <a:endParaRPr lang="en-US" sz="3640" dirty="0">
              <a:solidFill>
                <a:srgbClr val="6E4823"/>
              </a:solidFill>
              <a:latin typeface="Unna"/>
              <a:ea typeface="Unna"/>
              <a:cs typeface="Unna"/>
              <a:sym typeface="Unna"/>
            </a:endParaRP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832414" y="1844427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571018" y="-2324100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43902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88311" y="-2468761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45700" y="2565021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endParaRPr lang="en-US" sz="8192" b="1" dirty="0">
              <a:solidFill>
                <a:srgbClr val="6E4823"/>
              </a:solidFill>
              <a:latin typeface="Unna Bold"/>
              <a:ea typeface="Unna Bold"/>
              <a:cs typeface="Unna Bold"/>
              <a:sym typeface="Unn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88533" y="1478162"/>
            <a:ext cx="12703867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basic rules of inference are</a:t>
            </a:r>
            <a:r>
              <a:rPr lang="en-US" alt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P</a:t>
            </a: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premise can be introduced at any point in the derivation.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T</a:t>
            </a: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formula ‘s’ may be introduced in a derivation, if s is a tautology implied by one or more preceding formulas in the derivation.</a:t>
            </a:r>
          </a:p>
          <a:p>
            <a:endParaRPr lang="en-US" sz="2800" b="1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rules of inference to build arguments: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proof or Direct method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conclusion is derived directly from the given premises using rules of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proof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it introduce negation of the conclusion as an additional premise and from the additional premise together with the given premise derive the conclusion as F (i.e. contradiction )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proof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conclusion is in the form of P        q then set additional premise as P and final conclusion as q.</a:t>
            </a: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886200" y="1028700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791469" y="-2400300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45483" y="-3009900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>
            <a:off x="11430000" y="8953500"/>
            <a:ext cx="4572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262615" y="553034"/>
            <a:ext cx="1095699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Rules of inference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</a:t>
            </a: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72120" y="-176540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191000" y="1257300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496685" y="-2229424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486400" y="6006759"/>
                <a:ext cx="2819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 smtClean="0"/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6006759"/>
                <a:ext cx="281940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>
            <a:off x="3581400" y="2019300"/>
            <a:ext cx="751054" cy="0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19795"/>
              </p:ext>
            </p:extLst>
          </p:nvPr>
        </p:nvGraphicFramePr>
        <p:xfrm>
          <a:off x="3160056" y="1526795"/>
          <a:ext cx="11899833" cy="8424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1718">
                  <a:extLst>
                    <a:ext uri="{9D8B030D-6E8A-4147-A177-3AD203B41FA5}">
                      <a16:colId xmlns:a16="http://schemas.microsoft.com/office/drawing/2014/main" val="752199804"/>
                    </a:ext>
                  </a:extLst>
                </a:gridCol>
                <a:gridCol w="6028115">
                  <a:extLst>
                    <a:ext uri="{9D8B030D-6E8A-4147-A177-3AD203B41FA5}">
                      <a16:colId xmlns:a16="http://schemas.microsoft.com/office/drawing/2014/main" val="2389315628"/>
                    </a:ext>
                  </a:extLst>
                </a:gridCol>
              </a:tblGrid>
              <a:tr h="1032826">
                <a:tc>
                  <a:txBody>
                    <a:bodyPr/>
                    <a:lstStyle/>
                    <a:p>
                      <a:pPr marL="514350" lvl="0" indent="-51435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lphaLcPeriod"/>
                      </a:pPr>
                      <a:r>
                        <a:rPr lang="en-US" sz="20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P                              b.</a:t>
                      </a:r>
                      <a:r>
                        <a:rPr lang="en-US" sz="2400" b="1" baseline="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 q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  </a:t>
                      </a:r>
                      <a:r>
                        <a:rPr lang="en-US" sz="20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P V q                              </a:t>
                      </a:r>
                      <a:r>
                        <a:rPr lang="en-US" sz="18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  </a:t>
                      </a:r>
                      <a:r>
                        <a:rPr lang="en-US" sz="20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V q </a:t>
                      </a:r>
                      <a:endParaRPr lang="en-US" sz="4400" b="1" dirty="0" smtClean="0"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ea typeface="Unna"/>
                        <a:cs typeface="Times New Roman" panose="02020603050405020304" pitchFamily="18" charset="0"/>
                        <a:sym typeface="Unn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1. Addition rule </a:t>
                      </a:r>
                    </a:p>
                    <a:p>
                      <a:endParaRPr lang="en-US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130963"/>
                  </a:ext>
                </a:extLst>
              </a:tr>
              <a:tr h="991083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∧ q                         b.</a:t>
                      </a:r>
                      <a:r>
                        <a:rPr lang="en-US" sz="2400" b="1" i="0" kern="1200" baseline="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i="0" u="none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∧ q </a:t>
                      </a:r>
                      <a:endParaRPr lang="en-US" sz="2400" b="1" cap="none" spc="0" dirty="0" smtClean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P </a:t>
                      </a:r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q </a:t>
                      </a:r>
                      <a:endParaRPr lang="en-US" sz="24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Simplification rule</a:t>
                      </a:r>
                      <a:endParaRPr lang="en-US" sz="28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4135176"/>
                  </a:ext>
                </a:extLst>
              </a:tr>
              <a:tr h="1150151">
                <a:tc>
                  <a:txBody>
                    <a:bodyPr/>
                    <a:lstStyle/>
                    <a:p>
                      <a:r>
                        <a:rPr lang="en-US" sz="20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</a:p>
                    <a:p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P       q </a:t>
                      </a:r>
                    </a:p>
                    <a:p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∴ q </a:t>
                      </a:r>
                      <a:endParaRPr lang="en-US" sz="24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Modus Ponens</a:t>
                      </a:r>
                      <a:endParaRPr lang="en-US" sz="28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3018853"/>
                  </a:ext>
                </a:extLst>
              </a:tr>
              <a:tr h="1150151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</a:t>
                      </a:r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¬ q</a:t>
                      </a:r>
                    </a:p>
                    <a:p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sz="2400" b="1" i="0" kern="1200" baseline="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  </a:t>
                      </a:r>
                      <a:r>
                        <a:rPr lang="en-US" sz="2400" b="1" baseline="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 </a:t>
                      </a:r>
                      <a:endParaRPr lang="en-US" sz="2400" b="1" i="0" kern="1200" dirty="0" smtClean="0"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400" b="1" i="0" kern="1200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</a:t>
                      </a:r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</a:t>
                      </a: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¬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endParaRPr lang="en-US" sz="24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Modus </a:t>
                      </a:r>
                      <a:r>
                        <a:rPr lang="en-US" sz="2800" b="1" cap="none" spc="0" dirty="0" err="1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Tollens</a:t>
                      </a:r>
                      <a:endParaRPr lang="en-US" sz="28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1909871"/>
                  </a:ext>
                </a:extLst>
              </a:tr>
              <a:tr h="1150151">
                <a:tc>
                  <a:txBody>
                    <a:bodyPr/>
                    <a:lstStyle/>
                    <a:p>
                      <a:r>
                        <a:rPr lang="en-US" sz="2000" b="1" cap="none" spc="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</a:t>
                      </a:r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s</a:t>
                      </a:r>
                    </a:p>
                    <a:p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q         r</a:t>
                      </a:r>
                    </a:p>
                    <a:p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</a:t>
                      </a:r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  </a:t>
                      </a:r>
                      <a:r>
                        <a:rPr lang="en-US" sz="2400" b="1" baseline="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</a:t>
                      </a:r>
                      <a:endParaRPr lang="en-US" sz="2400" b="1" cap="none" spc="0" baseline="0" dirty="0" smtClean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Hypothetical Syllogism</a:t>
                      </a:r>
                      <a:endParaRPr lang="en-US" sz="28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0044919"/>
                  </a:ext>
                </a:extLst>
              </a:tr>
              <a:tr h="1432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¬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endParaRPr lang="en-US" sz="2400" b="1" cap="none" spc="0" dirty="0" smtClean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P V q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∴ q </a:t>
                      </a:r>
                      <a:endParaRPr lang="en-US" sz="2400" b="1" cap="none" spc="0" dirty="0" smtClean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Disjunctive</a:t>
                      </a:r>
                      <a:r>
                        <a:rPr lang="en-US" sz="28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Syllogism</a:t>
                      </a:r>
                      <a:endParaRPr lang="en-US" sz="28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9864164"/>
                  </a:ext>
                </a:extLst>
              </a:tr>
              <a:tr h="1327097">
                <a:tc>
                  <a:txBody>
                    <a:bodyPr/>
                    <a:lstStyle/>
                    <a:p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</a:rPr>
                        <a:t>                    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V q </a:t>
                      </a:r>
                    </a:p>
                    <a:p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</a:rPr>
                        <a:t>               </a:t>
                      </a:r>
                      <a:r>
                        <a:rPr lang="en-US" sz="2400" b="1" i="0" kern="1200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¬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V r</a:t>
                      </a:r>
                    </a:p>
                    <a:p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</a:rPr>
                        <a:t>          </a:t>
                      </a:r>
                      <a:r>
                        <a:rPr lang="en-US" sz="2400" b="1" cap="none" spc="0" baseline="0" dirty="0" smtClean="0">
                          <a:ln w="0"/>
                          <a:solidFill>
                            <a:srgbClr val="502604"/>
                          </a:solidFill>
                          <a:effectLst/>
                        </a:rPr>
                        <a:t>     </a:t>
                      </a:r>
                      <a:r>
                        <a:rPr lang="en-US" sz="24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 </a:t>
                      </a:r>
                      <a:r>
                        <a:rPr lang="en-US" sz="2400" b="1" dirty="0" smtClean="0"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∴ q V r</a:t>
                      </a:r>
                      <a:endParaRPr lang="en-US" sz="2400" b="1" cap="none" spc="0" dirty="0">
                        <a:ln w="0"/>
                        <a:solidFill>
                          <a:srgbClr val="502604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cap="none" spc="0" dirty="0" smtClean="0">
                          <a:ln w="0"/>
                          <a:solidFill>
                            <a:srgbClr val="50260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 Resolution law</a:t>
                      </a:r>
                      <a:endParaRPr lang="en-US" sz="2800" b="1" cap="none" spc="0" dirty="0">
                        <a:ln w="0"/>
                        <a:solidFill>
                          <a:srgbClr val="50260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2489299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>
            <a:off x="4572000" y="4229100"/>
            <a:ext cx="406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705490" y="5448300"/>
            <a:ext cx="4317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730796" y="6210300"/>
            <a:ext cx="406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730796" y="6575044"/>
            <a:ext cx="406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775223" y="6896100"/>
            <a:ext cx="406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400800" y="2005012"/>
            <a:ext cx="751054" cy="0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738562" y="3009900"/>
            <a:ext cx="751054" cy="0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613691" y="3009900"/>
            <a:ext cx="751054" cy="0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91000" y="4381500"/>
            <a:ext cx="1295400" cy="17134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191000" y="5513228"/>
            <a:ext cx="1295400" cy="17134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191000" y="6734561"/>
            <a:ext cx="1295400" cy="17134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4229100" y="7967956"/>
            <a:ext cx="1295400" cy="17134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191000" y="9432913"/>
            <a:ext cx="1295400" cy="17134"/>
          </a:xfrm>
          <a:prstGeom prst="line">
            <a:avLst/>
          </a:prstGeom>
          <a:ln>
            <a:solidFill>
              <a:srgbClr val="5026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91334" y="245992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METHOD</a:t>
            </a:r>
            <a:endParaRPr lang="en-US" sz="8192" b="1" dirty="0">
              <a:solidFill>
                <a:srgbClr val="6E4823"/>
              </a:solidFill>
              <a:latin typeface="Times New Roman" panose="02020603050405020304" pitchFamily="18" charset="0"/>
              <a:ea typeface="Unna Bold"/>
              <a:cs typeface="Times New Roman" panose="02020603050405020304" pitchFamily="18" charset="0"/>
              <a:sym typeface="Unna Bold"/>
            </a:endParaRP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785183" y="1633957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496685" y="-2295812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78997" y="-122722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285999" y="1922745"/>
            <a:ext cx="1343580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method of inference involves applying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rules step-by-step to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 a valid conclusion from given premises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b="1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alt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given premises are written clearly and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correctly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alt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rules of inference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modus ponens , modus </a:t>
            </a:r>
            <a:r>
              <a:rPr lang="en-US" sz="2800" dirty="0" err="1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tollens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simplification,.. )are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and applied to the premises</a:t>
            </a:r>
            <a:r>
              <a:rPr lang="en-US" alt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alt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are derived step by step in a logical order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step is properly justified by mentioning the rule used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800" b="1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required conclusion is obtained, proving that the argument is valid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00600" y="482306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EXAMPLE 1</a:t>
            </a:r>
            <a:endParaRPr lang="en-US" sz="8192" b="1" dirty="0">
              <a:solidFill>
                <a:srgbClr val="6E4823"/>
              </a:solidFill>
              <a:latin typeface="Times New Roman" panose="02020603050405020304" pitchFamily="18" charset="0"/>
              <a:ea typeface="Unna Bold"/>
              <a:cs typeface="Times New Roman" panose="02020603050405020304" pitchFamily="18" charset="0"/>
              <a:sym typeface="Unn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566191" y="1705730"/>
            <a:ext cx="15166858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“If there was rain , then travelling was difficult.”</a:t>
            </a:r>
          </a:p>
          <a:p>
            <a:pPr algn="l"/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    “If they arrived on time, travelling was not difficult.”</a:t>
            </a:r>
          </a:p>
          <a:p>
            <a:pPr algn="l"/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    “ They arrived on time .”</a:t>
            </a:r>
          </a:p>
          <a:p>
            <a:pPr algn="l"/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    “ therefore there was no rain.”</a:t>
            </a:r>
          </a:p>
          <a:p>
            <a:pPr algn="l"/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Show that the proposition is a valid argument .</a:t>
            </a:r>
          </a:p>
          <a:p>
            <a:pPr algn="l"/>
            <a:r>
              <a:rPr lang="en-US" sz="2800" u="sng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Solution: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given, P: there was rain</a:t>
            </a:r>
          </a:p>
          <a:p>
            <a:pPr algn="l"/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                         q: travelling was difficult</a:t>
            </a:r>
          </a:p>
          <a:p>
            <a:pPr algn="l"/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                         r: they arrived on time</a:t>
            </a: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Premises:   P      q , r       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 q , r</a:t>
            </a:r>
          </a:p>
          <a:p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  ¬p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  </a:t>
            </a: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962400" y="1694926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783453" y="-1019462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84291" y="-3009900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397991" y="5372100"/>
            <a:ext cx="40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5000" y="5372100"/>
            <a:ext cx="406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21767"/>
              </p:ext>
            </p:extLst>
          </p:nvPr>
        </p:nvGraphicFramePr>
        <p:xfrm>
          <a:off x="2647651" y="6099572"/>
          <a:ext cx="12592350" cy="3399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7450">
                  <a:extLst>
                    <a:ext uri="{9D8B030D-6E8A-4147-A177-3AD203B41FA5}">
                      <a16:colId xmlns:a16="http://schemas.microsoft.com/office/drawing/2014/main" val="3717914195"/>
                    </a:ext>
                  </a:extLst>
                </a:gridCol>
                <a:gridCol w="4197450">
                  <a:extLst>
                    <a:ext uri="{9D8B030D-6E8A-4147-A177-3AD203B41FA5}">
                      <a16:colId xmlns:a16="http://schemas.microsoft.com/office/drawing/2014/main" val="453698299"/>
                    </a:ext>
                  </a:extLst>
                </a:gridCol>
                <a:gridCol w="4197450">
                  <a:extLst>
                    <a:ext uri="{9D8B030D-6E8A-4147-A177-3AD203B41FA5}">
                      <a16:colId xmlns:a16="http://schemas.microsoft.com/office/drawing/2014/main" val="1997071933"/>
                    </a:ext>
                  </a:extLst>
                </a:gridCol>
              </a:tblGrid>
              <a:tr h="54950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Steps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764623"/>
                  </a:ext>
                </a:extLst>
              </a:tr>
              <a:tr h="54950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1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386474"/>
                  </a:ext>
                </a:extLst>
              </a:tr>
              <a:tr h="53571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2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r        </a:t>
                      </a:r>
                      <a:r>
                        <a:rPr lang="en-US" sz="2400" b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 q </a:t>
                      </a:r>
                      <a:endParaRPr lang="en-US" sz="2400" b="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747834"/>
                  </a:ext>
                </a:extLst>
              </a:tr>
              <a:tr h="666248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3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 q</a:t>
                      </a:r>
                      <a:endParaRPr lang="en-US" sz="2400" b="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(1,2)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Rule T : Modus Ponens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57615"/>
                  </a:ext>
                </a:extLst>
              </a:tr>
              <a:tr h="54950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4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P       q</a:t>
                      </a:r>
                      <a:endParaRPr lang="en-US" sz="2400" b="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20059"/>
                  </a:ext>
                </a:extLst>
              </a:tr>
              <a:tr h="54950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5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¬p</a:t>
                      </a:r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ea typeface="Unna"/>
                          <a:cs typeface="Times New Roman" panose="02020603050405020304" pitchFamily="18" charset="0"/>
                          <a:sym typeface="Unna"/>
                        </a:rPr>
                        <a:t> 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(3,4) Rule T: Modus </a:t>
                      </a:r>
                      <a:r>
                        <a:rPr lang="en-US" sz="2400" dirty="0" err="1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Tollens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882201"/>
                  </a:ext>
                </a:extLst>
              </a:tr>
            </a:tbl>
          </a:graphicData>
        </a:graphic>
      </p:graphicFrame>
      <p:cxnSp>
        <p:nvCxnSpPr>
          <p:cNvPr id="35" name="Straight Arrow Connector 34"/>
          <p:cNvCxnSpPr/>
          <p:nvPr/>
        </p:nvCxnSpPr>
        <p:spPr>
          <a:xfrm>
            <a:off x="8610600" y="75057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86800" y="86487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26901" y="9560662"/>
            <a:ext cx="955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given premises gives the valid argument</a:t>
            </a: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97716" y="423619"/>
            <a:ext cx="8537178" cy="134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EXAMPLE  </a:t>
            </a:r>
            <a:r>
              <a:rPr lang="en-US" sz="8192" b="1" dirty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91315" y="1915572"/>
            <a:ext cx="13000153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96"/>
              </a:lnSpc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ea typeface="Unna"/>
                <a:cs typeface="Times New Roman" panose="02020603050405020304" pitchFamily="18" charset="0"/>
                <a:sym typeface="Unna"/>
              </a:rPr>
              <a:t>2. Using indirect method, derive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 (p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∧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) from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∧ ¬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Unna"/>
              </a:rPr>
              <a:t> </a:t>
            </a: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ea typeface="Unna"/>
              <a:cs typeface="Times New Roman" panose="02020603050405020304" pitchFamily="18" charset="0"/>
              <a:sym typeface="Unna"/>
            </a:endParaRP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581400" y="1770911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496685" y="-2295812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566191" y="2701112"/>
            <a:ext cx="133304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given,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Premises : ¬ p ∧ ¬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Conclusion: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 (p ∧ q ) 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( indirect method)</a:t>
            </a:r>
          </a:p>
          <a:p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Additional premise : ¬ (¬  (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∧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))     </a:t>
            </a:r>
            <a:endParaRPr lang="en-US" sz="2000" dirty="0"/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0" y="-9964268"/>
            <a:ext cx="2470548" cy="1992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en-US" altLang="en-US" sz="321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1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 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1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r>
              <a:rPr kumimoji="0" lang="en-US" altLang="en-US" sz="321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/>
            </a:r>
            <a:br>
              <a:rPr kumimoji="0" lang="en-US" altLang="en-US" sz="321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321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</p:txBody>
      </p:sp>
      <p:sp>
        <p:nvSpPr>
          <p:cNvPr id="24" name="AutoShape 4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8855075" y="-524859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/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728521"/>
              </p:ext>
            </p:extLst>
          </p:nvPr>
        </p:nvGraphicFramePr>
        <p:xfrm>
          <a:off x="2836556" y="4297003"/>
          <a:ext cx="12634146" cy="45953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11382">
                  <a:extLst>
                    <a:ext uri="{9D8B030D-6E8A-4147-A177-3AD203B41FA5}">
                      <a16:colId xmlns:a16="http://schemas.microsoft.com/office/drawing/2014/main" val="2339814750"/>
                    </a:ext>
                  </a:extLst>
                </a:gridCol>
                <a:gridCol w="4211382">
                  <a:extLst>
                    <a:ext uri="{9D8B030D-6E8A-4147-A177-3AD203B41FA5}">
                      <a16:colId xmlns:a16="http://schemas.microsoft.com/office/drawing/2014/main" val="1657627526"/>
                    </a:ext>
                  </a:extLst>
                </a:gridCol>
                <a:gridCol w="4211382">
                  <a:extLst>
                    <a:ext uri="{9D8B030D-6E8A-4147-A177-3AD203B41FA5}">
                      <a16:colId xmlns:a16="http://schemas.microsoft.com/office/drawing/2014/main" val="1198511944"/>
                    </a:ext>
                  </a:extLst>
                </a:gridCol>
              </a:tblGrid>
              <a:tr h="6247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Reasons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484697"/>
                  </a:ext>
                </a:extLst>
              </a:tr>
              <a:tr h="6247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 (¬  (p ∧ q )) 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417766"/>
                  </a:ext>
                </a:extLst>
              </a:tr>
              <a:tr h="6247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∧ q 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Rule T : double negation law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57584"/>
                  </a:ext>
                </a:extLst>
              </a:tr>
              <a:tr h="6487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Rule T : simplification law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92627"/>
                  </a:ext>
                </a:extLst>
              </a:tr>
              <a:tr h="6247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 p ∧ ¬ q </a:t>
                      </a:r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Unna"/>
                        </a:rPr>
                        <a:t> </a:t>
                      </a:r>
                      <a:endParaRPr lang="en-US" sz="2400" dirty="0" smtClean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ea typeface="Unna"/>
                        <a:cs typeface="Times New Roman" panose="02020603050405020304" pitchFamily="18" charset="0"/>
                        <a:sym typeface="Unna"/>
                      </a:endParaRPr>
                    </a:p>
                    <a:p>
                      <a:pPr algn="ctr"/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770485"/>
                  </a:ext>
                </a:extLst>
              </a:tr>
              <a:tr h="6247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 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(4)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Rule T : simplification law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316374"/>
                  </a:ext>
                </a:extLst>
              </a:tr>
              <a:tr h="6247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∧ ¬ p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(3,5)</a:t>
                      </a:r>
                      <a:r>
                        <a:rPr lang="en-US" sz="2400" baseline="0" dirty="0" smtClean="0">
                          <a:solidFill>
                            <a:srgbClr val="50260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Rule T : conjunction </a:t>
                      </a:r>
                      <a:endParaRPr lang="en-US" sz="2400" dirty="0">
                        <a:solidFill>
                          <a:srgbClr val="50260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42721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581400" y="9258300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given premises leads to contradiction</a:t>
            </a: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5411" y="462560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APPLIATIONS</a:t>
            </a:r>
            <a:endParaRPr lang="en-US" sz="8192" b="1" dirty="0">
              <a:solidFill>
                <a:srgbClr val="6E4823"/>
              </a:solidFill>
              <a:latin typeface="Times New Roman" panose="02020603050405020304" pitchFamily="18" charset="0"/>
              <a:ea typeface="Unna Bold"/>
              <a:cs typeface="Times New Roman" panose="02020603050405020304" pitchFamily="18" charset="0"/>
              <a:sym typeface="Unn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362807" y="2497586"/>
            <a:ext cx="12428662" cy="4532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Mathematical proofs to verify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plays an important role in computer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science.</a:t>
            </a:r>
          </a:p>
          <a:p>
            <a:endParaRPr 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decision making and reasoning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digital circuits and logic design </a:t>
            </a: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both academic and real-life problem solving.</a:t>
            </a:r>
          </a:p>
          <a:p>
            <a:pPr algn="ctr">
              <a:lnSpc>
                <a:spcPts val="5096"/>
              </a:lnSpc>
            </a:pPr>
            <a:endParaRPr lang="en-US" sz="3640" dirty="0">
              <a:solidFill>
                <a:srgbClr val="6E4823"/>
              </a:solidFill>
              <a:latin typeface="Unna"/>
              <a:ea typeface="Unna"/>
              <a:cs typeface="Unna"/>
              <a:sym typeface="Unna"/>
            </a:endParaRPr>
          </a:p>
        </p:txBody>
      </p:sp>
      <p:sp>
        <p:nvSpPr>
          <p:cNvPr id="4" name="Freeform 4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4099055" y="1836878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5496685" y="-2295812"/>
            <a:ext cx="1543050" cy="15297724"/>
            <a:chOff x="0" y="0"/>
            <a:chExt cx="406400" cy="40290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2803" y="404833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 smtClean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CONCLUSION</a:t>
            </a:r>
            <a:endParaRPr lang="en-US" sz="8192" b="1" dirty="0">
              <a:solidFill>
                <a:srgbClr val="6E4823"/>
              </a:solidFill>
              <a:latin typeface="Times New Roman" panose="02020603050405020304" pitchFamily="18" charset="0"/>
              <a:ea typeface="Unna Bold"/>
              <a:cs typeface="Times New Roman" panose="02020603050405020304" pitchFamily="18" charset="0"/>
              <a:sym typeface="Unn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83279" y="2542364"/>
            <a:ext cx="11918621" cy="4378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inference is an essential part of statement calculus. </a:t>
            </a:r>
            <a:endParaRPr lang="en-US" alt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systematic and logical method to derive conclusions from given premises. </a:t>
            </a:r>
            <a:endParaRPr lang="en-US" alt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using inference rules, we can ensure that arguments are valid and reliable. </a:t>
            </a:r>
            <a:endParaRPr lang="en-US" altLang="en-US" sz="2800" dirty="0" smtClean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solidFill>
                <a:srgbClr val="5026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5026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mathematics, computer science, and everyday reasoning. 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endParaRPr lang="en-US" sz="3640" dirty="0">
              <a:solidFill>
                <a:srgbClr val="6E4823"/>
              </a:solidFill>
              <a:latin typeface="Unna"/>
              <a:ea typeface="Unna"/>
              <a:cs typeface="Unna"/>
              <a:sym typeface="Unna"/>
            </a:endParaRPr>
          </a:p>
        </p:txBody>
      </p:sp>
      <p:sp>
        <p:nvSpPr>
          <p:cNvPr id="5" name="Freeform 5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3832414" y="1779151"/>
            <a:ext cx="1062317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496685" y="-2295812"/>
            <a:ext cx="1543050" cy="15297724"/>
            <a:chOff x="0" y="0"/>
            <a:chExt cx="406400" cy="4029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0403" y="4185229"/>
            <a:ext cx="10972730" cy="193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0"/>
              </a:lnSpc>
            </a:pPr>
            <a:r>
              <a:rPr lang="en-US" sz="13366" b="1" dirty="0">
                <a:solidFill>
                  <a:srgbClr val="6E4823"/>
                </a:solidFill>
                <a:latin typeface="Times New Roman" panose="02020603050405020304" pitchFamily="18" charset="0"/>
                <a:ea typeface="Unna Bold"/>
                <a:cs typeface="Times New Roman" panose="02020603050405020304" pitchFamily="18" charset="0"/>
                <a:sym typeface="Unna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5400000" flipV="1">
            <a:off x="13382135" y="-124826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V="1">
            <a:off x="133821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69662" y="10063142"/>
            <a:ext cx="18332860" cy="445690"/>
            <a:chOff x="0" y="0"/>
            <a:chExt cx="4828408" cy="1173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69662" y="-221832"/>
            <a:ext cx="18332860" cy="445690"/>
            <a:chOff x="0" y="0"/>
            <a:chExt cx="4828408" cy="1173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28408" cy="117383"/>
            </a:xfrm>
            <a:custGeom>
              <a:avLst/>
              <a:gdLst/>
              <a:ahLst/>
              <a:cxnLst/>
              <a:rect l="l" t="t" r="r" b="b"/>
              <a:pathLst>
                <a:path w="4828408" h="117383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5897880" y="6054583"/>
            <a:ext cx="6492240" cy="0"/>
          </a:xfrm>
          <a:prstGeom prst="line">
            <a:avLst/>
          </a:prstGeom>
          <a:ln w="38100" cap="flat">
            <a:solidFill>
              <a:srgbClr val="AA8C6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5496685" y="-2295812"/>
            <a:ext cx="1543050" cy="15297724"/>
            <a:chOff x="0" y="0"/>
            <a:chExt cx="406400" cy="40290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5400000" flipV="1">
            <a:off x="-2409335" y="9038735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 flipV="1">
            <a:off x="-2409335" y="-1167282"/>
            <a:ext cx="7315200" cy="2496530"/>
          </a:xfrm>
          <a:custGeom>
            <a:avLst/>
            <a:gdLst/>
            <a:ahLst/>
            <a:cxnLst/>
            <a:rect l="l" t="t" r="r" b="b"/>
            <a:pathLst>
              <a:path w="7315200" h="249653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248265" y="-3074580"/>
            <a:ext cx="1543050" cy="15297724"/>
            <a:chOff x="0" y="0"/>
            <a:chExt cx="406400" cy="4029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0" cy="4029030"/>
            </a:xfrm>
            <a:custGeom>
              <a:avLst/>
              <a:gdLst/>
              <a:ahLst/>
              <a:cxnLst/>
              <a:rect l="l" t="t" r="r" b="b"/>
              <a:pathLst>
                <a:path w="406400" h="402903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</TotalTime>
  <Words>916</Words>
  <Application>Microsoft Office PowerPoint</Application>
  <PresentationFormat>Custom</PresentationFormat>
  <Paragraphs>174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Wingdings</vt:lpstr>
      <vt:lpstr>Google Sans</vt:lpstr>
      <vt:lpstr>Times New Roman</vt:lpstr>
      <vt:lpstr>Cambria Math</vt:lpstr>
      <vt:lpstr>Unna Bold</vt:lpstr>
      <vt:lpstr>Arial</vt:lpstr>
      <vt:lpstr>Unna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Azzam</cp:lastModifiedBy>
  <cp:revision>63</cp:revision>
  <dcterms:created xsi:type="dcterms:W3CDTF">2006-08-16T00:00:00Z</dcterms:created>
  <dcterms:modified xsi:type="dcterms:W3CDTF">2026-04-06T19:44:18Z</dcterms:modified>
  <dc:identifier>DAG2EjrIZ5U</dc:identifier>
</cp:coreProperties>
</file>